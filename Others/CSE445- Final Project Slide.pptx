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 Bold" charset="1" panose="00000800000000000000"/>
      <p:regular r:id="rId19"/>
    </p:embeddedFont>
    <p:embeddedFont>
      <p:font typeface="Poppins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5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51878" y="3988126"/>
            <a:ext cx="12184244" cy="2310748"/>
            <a:chOff x="0" y="0"/>
            <a:chExt cx="16245659" cy="308099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47625"/>
              <a:ext cx="16245659" cy="2079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00"/>
                </a:lnSpc>
              </a:pPr>
              <a:r>
                <a:rPr lang="en-US" b="true" sz="5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Design and Implementation of a Face Recognition System for 10 Individuals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554480" y="2331720"/>
              <a:ext cx="13136699" cy="7492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Course:</a:t>
              </a:r>
              <a:r>
                <a:rPr lang="en-US" sz="3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CSE445</a:t>
              </a:r>
              <a:r>
                <a:rPr lang="en-US" sz="3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| Group</a:t>
              </a:r>
              <a:r>
                <a:rPr lang="en-US" sz="3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3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Proj</a:t>
              </a:r>
              <a:r>
                <a:rPr lang="en-US" sz="3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28625" y="-368617"/>
            <a:ext cx="19145250" cy="11024235"/>
            <a:chOff x="0" y="0"/>
            <a:chExt cx="5042370" cy="29035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42371" cy="2903502"/>
            </a:xfrm>
            <a:custGeom>
              <a:avLst/>
              <a:gdLst/>
              <a:ahLst/>
              <a:cxnLst/>
              <a:rect r="r" b="b" t="t" l="l"/>
              <a:pathLst>
                <a:path h="2903502" w="5042371">
                  <a:moveTo>
                    <a:pt x="0" y="0"/>
                  </a:moveTo>
                  <a:lnTo>
                    <a:pt x="5042371" y="0"/>
                  </a:lnTo>
                  <a:lnTo>
                    <a:pt x="5042371" y="2903502"/>
                  </a:lnTo>
                  <a:lnTo>
                    <a:pt x="0" y="2903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905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042370" cy="2960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76225" y="-216217"/>
            <a:ext cx="19145250" cy="11024235"/>
            <a:chOff x="0" y="0"/>
            <a:chExt cx="5042370" cy="29035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42371" cy="2903502"/>
            </a:xfrm>
            <a:custGeom>
              <a:avLst/>
              <a:gdLst/>
              <a:ahLst/>
              <a:cxnLst/>
              <a:rect r="r" b="b" t="t" l="l"/>
              <a:pathLst>
                <a:path h="2903502" w="5042371">
                  <a:moveTo>
                    <a:pt x="0" y="0"/>
                  </a:moveTo>
                  <a:lnTo>
                    <a:pt x="5042371" y="0"/>
                  </a:lnTo>
                  <a:lnTo>
                    <a:pt x="5042371" y="2903502"/>
                  </a:lnTo>
                  <a:lnTo>
                    <a:pt x="0" y="2903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905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042370" cy="2960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8625" y="-368617"/>
            <a:ext cx="19145250" cy="11024235"/>
            <a:chOff x="0" y="0"/>
            <a:chExt cx="5042370" cy="29035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42371" cy="2903502"/>
            </a:xfrm>
            <a:custGeom>
              <a:avLst/>
              <a:gdLst/>
              <a:ahLst/>
              <a:cxnLst/>
              <a:rect r="r" b="b" t="t" l="l"/>
              <a:pathLst>
                <a:path h="2903502" w="5042371">
                  <a:moveTo>
                    <a:pt x="0" y="0"/>
                  </a:moveTo>
                  <a:lnTo>
                    <a:pt x="5042371" y="0"/>
                  </a:lnTo>
                  <a:lnTo>
                    <a:pt x="5042371" y="2903502"/>
                  </a:lnTo>
                  <a:lnTo>
                    <a:pt x="0" y="2903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90550" cap="sq">
              <a:solidFill>
                <a:srgbClr val="005EE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42370" cy="2960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910712"/>
            <a:ext cx="6246075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005EE2"/>
                </a:solidFill>
                <a:latin typeface="Poppins Bold"/>
                <a:ea typeface="Poppins Bold"/>
                <a:cs typeface="Poppins Bold"/>
                <a:sym typeface="Poppins Bold"/>
              </a:rPr>
              <a:t>Group Information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880464"/>
            <a:ext cx="6246075" cy="150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K.M. Rayed Zakwan - 2231678642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Md. Mofidul Hassan - 2231018642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Md. Shahadat Hossain-2232195042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Barshon Basak - 2311625042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8625" y="-368617"/>
            <a:ext cx="19145250" cy="11024235"/>
            <a:chOff x="0" y="0"/>
            <a:chExt cx="5042370" cy="29035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42371" cy="2903502"/>
            </a:xfrm>
            <a:custGeom>
              <a:avLst/>
              <a:gdLst/>
              <a:ahLst/>
              <a:cxnLst/>
              <a:rect r="r" b="b" t="t" l="l"/>
              <a:pathLst>
                <a:path h="2903502" w="5042371">
                  <a:moveTo>
                    <a:pt x="0" y="0"/>
                  </a:moveTo>
                  <a:lnTo>
                    <a:pt x="5042371" y="0"/>
                  </a:lnTo>
                  <a:lnTo>
                    <a:pt x="5042371" y="2903502"/>
                  </a:lnTo>
                  <a:lnTo>
                    <a:pt x="0" y="2903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90550" cap="sq">
              <a:solidFill>
                <a:srgbClr val="005EE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42370" cy="2960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910712"/>
            <a:ext cx="321141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005EE2"/>
                </a:solidFill>
                <a:latin typeface="Poppins Bold"/>
                <a:ea typeface="Poppins Bold"/>
                <a:cs typeface="Poppins Bold"/>
                <a:sym typeface="Poppins Bold"/>
              </a:rPr>
              <a:t>Abstract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66189"/>
            <a:ext cx="9486480" cy="3362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Face recogniti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 is widely used in security, authentication, and HCI.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We built a system for recognizing </a:t>
            </a: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10 individuals.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Techniques: </a:t>
            </a: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PCA, KNN, SVM &amp; FaceNet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embeddings.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The system achieved promising accuracy; </a:t>
            </a: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FaceNet provided the best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8625" y="-368617"/>
            <a:ext cx="19145250" cy="11024235"/>
            <a:chOff x="0" y="0"/>
            <a:chExt cx="5042370" cy="29035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42371" cy="2903502"/>
            </a:xfrm>
            <a:custGeom>
              <a:avLst/>
              <a:gdLst/>
              <a:ahLst/>
              <a:cxnLst/>
              <a:rect r="r" b="b" t="t" l="l"/>
              <a:pathLst>
                <a:path h="2903502" w="5042371">
                  <a:moveTo>
                    <a:pt x="0" y="0"/>
                  </a:moveTo>
                  <a:lnTo>
                    <a:pt x="5042371" y="0"/>
                  </a:lnTo>
                  <a:lnTo>
                    <a:pt x="5042371" y="2903502"/>
                  </a:lnTo>
                  <a:lnTo>
                    <a:pt x="0" y="2903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90550" cap="sq">
              <a:solidFill>
                <a:srgbClr val="005EE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42370" cy="2960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910712"/>
            <a:ext cx="4120095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005EE2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66189"/>
            <a:ext cx="8680665" cy="2619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Face recogniti</a:t>
            </a: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on: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Non-intrusive biometric technology.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Objective: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Build a system to detect, process, and classify 10 individuals.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Contributions: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Preprocessing pipeline, PCA, KNN vs. SVM c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omparison.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8625" y="-368617"/>
            <a:ext cx="19145250" cy="11024235"/>
            <a:chOff x="0" y="0"/>
            <a:chExt cx="5042370" cy="29035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42371" cy="2903502"/>
            </a:xfrm>
            <a:custGeom>
              <a:avLst/>
              <a:gdLst/>
              <a:ahLst/>
              <a:cxnLst/>
              <a:rect r="r" b="b" t="t" l="l"/>
              <a:pathLst>
                <a:path h="2903502" w="5042371">
                  <a:moveTo>
                    <a:pt x="0" y="0"/>
                  </a:moveTo>
                  <a:lnTo>
                    <a:pt x="5042371" y="0"/>
                  </a:lnTo>
                  <a:lnTo>
                    <a:pt x="5042371" y="2903502"/>
                  </a:lnTo>
                  <a:lnTo>
                    <a:pt x="0" y="2903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90550" cap="sq">
              <a:solidFill>
                <a:srgbClr val="005EE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42370" cy="2960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910712"/>
            <a:ext cx="4737315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005EE2"/>
                </a:solidFill>
                <a:latin typeface="Poppins Bold"/>
                <a:ea typeface="Poppins Bold"/>
                <a:cs typeface="Poppins Bold"/>
                <a:sym typeface="Poppins Bold"/>
              </a:rPr>
              <a:t>Related 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66189"/>
            <a:ext cx="8663520" cy="373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Early Approaches</a:t>
            </a: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Geometric feature-based.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PCA/Eigenfaces pioneered classical face recognition.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Deep learning (CNN, FaceNet) is now dominant in large-scale systems.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We adapt classical and deep methods f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 small dataset.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8625" y="-368617"/>
            <a:ext cx="19145250" cy="11024235"/>
            <a:chOff x="0" y="0"/>
            <a:chExt cx="5042370" cy="29035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42371" cy="2903502"/>
            </a:xfrm>
            <a:custGeom>
              <a:avLst/>
              <a:gdLst/>
              <a:ahLst/>
              <a:cxnLst/>
              <a:rect r="r" b="b" t="t" l="l"/>
              <a:pathLst>
                <a:path h="2903502" w="5042371">
                  <a:moveTo>
                    <a:pt x="0" y="0"/>
                  </a:moveTo>
                  <a:lnTo>
                    <a:pt x="5042371" y="0"/>
                  </a:lnTo>
                  <a:lnTo>
                    <a:pt x="5042371" y="2903502"/>
                  </a:lnTo>
                  <a:lnTo>
                    <a:pt x="0" y="2903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90550" cap="sq">
              <a:solidFill>
                <a:srgbClr val="005EE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42370" cy="2960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08162" y="2767685"/>
            <a:ext cx="8084205" cy="5407039"/>
          </a:xfrm>
          <a:custGeom>
            <a:avLst/>
            <a:gdLst/>
            <a:ahLst/>
            <a:cxnLst/>
            <a:rect r="r" b="b" t="t" l="l"/>
            <a:pathLst>
              <a:path h="5407039" w="8084205">
                <a:moveTo>
                  <a:pt x="0" y="0"/>
                </a:moveTo>
                <a:lnTo>
                  <a:pt x="8084205" y="0"/>
                </a:lnTo>
                <a:lnTo>
                  <a:pt x="8084205" y="5407040"/>
                </a:lnTo>
                <a:lnTo>
                  <a:pt x="0" y="5407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97" r="0" b="-339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910712"/>
            <a:ext cx="4737315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005EE2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966189"/>
            <a:ext cx="7600530" cy="373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Datas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 self-created (10 individuals).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Photos captured under different poses, expressions, and lighting.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Images resized to 64×64 and converted to grayscale.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split: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70% train, 10% validation, 20%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test.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8625" y="-368617"/>
            <a:ext cx="19145250" cy="11024235"/>
            <a:chOff x="0" y="0"/>
            <a:chExt cx="5042370" cy="29035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42371" cy="2903502"/>
            </a:xfrm>
            <a:custGeom>
              <a:avLst/>
              <a:gdLst/>
              <a:ahLst/>
              <a:cxnLst/>
              <a:rect r="r" b="b" t="t" l="l"/>
              <a:pathLst>
                <a:path h="2903502" w="5042371">
                  <a:moveTo>
                    <a:pt x="0" y="0"/>
                  </a:moveTo>
                  <a:lnTo>
                    <a:pt x="5042371" y="0"/>
                  </a:lnTo>
                  <a:lnTo>
                    <a:pt x="5042371" y="2903502"/>
                  </a:lnTo>
                  <a:lnTo>
                    <a:pt x="0" y="2903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90550" cap="sq">
              <a:solidFill>
                <a:srgbClr val="005EE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42370" cy="2960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910712"/>
            <a:ext cx="4737315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005EE2"/>
                </a:solidFill>
                <a:latin typeface="Poppins Bold"/>
                <a:ea typeface="Poppins Bold"/>
                <a:cs typeface="Poppins Bold"/>
                <a:sym typeface="Poppins Bold"/>
              </a:rPr>
              <a:t>Preprocessing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66189"/>
            <a:ext cx="6914730" cy="373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Fa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 detection &amp; alignment using MTCNN (+25% margin).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Normalization of pixel values.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Two</a:t>
            </a: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pipelines:</a:t>
            </a:r>
          </a:p>
          <a:p>
            <a:pPr algn="l">
              <a:lnSpc>
                <a:spcPts val="2999"/>
              </a:lnSpc>
            </a:pPr>
          </a:p>
          <a:p>
            <a:pPr algn="l" marL="539749" indent="-269875" lvl="1">
              <a:lnSpc>
                <a:spcPts val="29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Grayscale → PCA → KNN/SVM.</a:t>
            </a:r>
          </a:p>
          <a:p>
            <a:pPr algn="l" marL="539749" indent="-269875" lvl="1">
              <a:lnSpc>
                <a:spcPts val="29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RGB → FaceNet → KNN.</a:t>
            </a:r>
          </a:p>
          <a:p>
            <a:pPr algn="l">
              <a:lnSpc>
                <a:spcPts val="299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8625" y="-368617"/>
            <a:ext cx="19145250" cy="11024235"/>
            <a:chOff x="0" y="0"/>
            <a:chExt cx="5042370" cy="29035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42371" cy="2903502"/>
            </a:xfrm>
            <a:custGeom>
              <a:avLst/>
              <a:gdLst/>
              <a:ahLst/>
              <a:cxnLst/>
              <a:rect r="r" b="b" t="t" l="l"/>
              <a:pathLst>
                <a:path h="2903502" w="5042371">
                  <a:moveTo>
                    <a:pt x="0" y="0"/>
                  </a:moveTo>
                  <a:lnTo>
                    <a:pt x="5042371" y="0"/>
                  </a:lnTo>
                  <a:lnTo>
                    <a:pt x="5042371" y="2903502"/>
                  </a:lnTo>
                  <a:lnTo>
                    <a:pt x="0" y="2903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90550" cap="sq">
              <a:solidFill>
                <a:srgbClr val="005EE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42370" cy="2960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910712"/>
            <a:ext cx="4737315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005EE2"/>
                </a:solidFill>
                <a:latin typeface="Poppins Bold"/>
                <a:ea typeface="Poppins Bold"/>
                <a:cs typeface="Poppins Bold"/>
                <a:sym typeface="Poppins Bold"/>
              </a:rPr>
              <a:t>Models Used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66189"/>
            <a:ext cx="6983310" cy="2990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KNN: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Distance-based, interpretable, baseline model.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SVM: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Margin-based, better generalization on PCA features.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Both are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suited for small datasets; </a:t>
            </a: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SVM is more robust to outliers.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8625" y="-368617"/>
            <a:ext cx="19145250" cy="11024235"/>
            <a:chOff x="0" y="0"/>
            <a:chExt cx="5042370" cy="29035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42371" cy="2903502"/>
            </a:xfrm>
            <a:custGeom>
              <a:avLst/>
              <a:gdLst/>
              <a:ahLst/>
              <a:cxnLst/>
              <a:rect r="r" b="b" t="t" l="l"/>
              <a:pathLst>
                <a:path h="2903502" w="5042371">
                  <a:moveTo>
                    <a:pt x="0" y="0"/>
                  </a:moveTo>
                  <a:lnTo>
                    <a:pt x="5042371" y="0"/>
                  </a:lnTo>
                  <a:lnTo>
                    <a:pt x="5042371" y="2903502"/>
                  </a:lnTo>
                  <a:lnTo>
                    <a:pt x="0" y="2903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90550" cap="sq">
              <a:solidFill>
                <a:srgbClr val="005EE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42370" cy="2960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44000" y="3036098"/>
            <a:ext cx="7569855" cy="5407039"/>
          </a:xfrm>
          <a:custGeom>
            <a:avLst/>
            <a:gdLst/>
            <a:ahLst/>
            <a:cxnLst/>
            <a:rect r="r" b="b" t="t" l="l"/>
            <a:pathLst>
              <a:path h="5407039" w="7569855">
                <a:moveTo>
                  <a:pt x="0" y="0"/>
                </a:moveTo>
                <a:lnTo>
                  <a:pt x="7569855" y="0"/>
                </a:lnTo>
                <a:lnTo>
                  <a:pt x="7569855" y="5407039"/>
                </a:lnTo>
                <a:lnTo>
                  <a:pt x="0" y="54070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910712"/>
            <a:ext cx="544026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005EE2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966189"/>
            <a:ext cx="7394790" cy="447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Split data into </a:t>
            </a: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train (70%), validation (10%), and test (20%).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Applied PCA only after split to avoid data leakage.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KNN with thre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shold τ for unknown detection.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PCA+KNN and PCA+SVM implemented manually.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FaceNet embeddings classified with CNN.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8625" y="-368617"/>
            <a:ext cx="19145250" cy="11024235"/>
            <a:chOff x="0" y="0"/>
            <a:chExt cx="5042370" cy="29035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42371" cy="2903502"/>
            </a:xfrm>
            <a:custGeom>
              <a:avLst/>
              <a:gdLst/>
              <a:ahLst/>
              <a:cxnLst/>
              <a:rect r="r" b="b" t="t" l="l"/>
              <a:pathLst>
                <a:path h="2903502" w="5042371">
                  <a:moveTo>
                    <a:pt x="0" y="0"/>
                  </a:moveTo>
                  <a:lnTo>
                    <a:pt x="5042371" y="0"/>
                  </a:lnTo>
                  <a:lnTo>
                    <a:pt x="5042371" y="2903502"/>
                  </a:lnTo>
                  <a:lnTo>
                    <a:pt x="0" y="2903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90550" cap="sq">
              <a:solidFill>
                <a:srgbClr val="005EE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42370" cy="2960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833917" y="2958337"/>
            <a:ext cx="7569855" cy="5407039"/>
          </a:xfrm>
          <a:custGeom>
            <a:avLst/>
            <a:gdLst/>
            <a:ahLst/>
            <a:cxnLst/>
            <a:rect r="r" b="b" t="t" l="l"/>
            <a:pathLst>
              <a:path h="5407039" w="7569855">
                <a:moveTo>
                  <a:pt x="0" y="0"/>
                </a:moveTo>
                <a:lnTo>
                  <a:pt x="7569855" y="0"/>
                </a:lnTo>
                <a:lnTo>
                  <a:pt x="7569855" y="5407039"/>
                </a:lnTo>
                <a:lnTo>
                  <a:pt x="0" y="54070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910712"/>
            <a:ext cx="544026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005EE2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966189"/>
            <a:ext cx="7377645" cy="4105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Metrics: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Accuracy, Precision, Recall, F1-score.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PCA+KNN → Acc: 94.44%, F1: 94.03%.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PCA+SVM →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Acc: 94.44%, F1: 94.60%.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FaceNet+KNN → Acc: 100%, F1: 100%.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FaceNet drastically outperformed classical methods.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8625" y="-368617"/>
            <a:ext cx="19145250" cy="11024235"/>
            <a:chOff x="0" y="0"/>
            <a:chExt cx="5042370" cy="29035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42371" cy="2903502"/>
            </a:xfrm>
            <a:custGeom>
              <a:avLst/>
              <a:gdLst/>
              <a:ahLst/>
              <a:cxnLst/>
              <a:rect r="r" b="b" t="t" l="l"/>
              <a:pathLst>
                <a:path h="2903502" w="5042371">
                  <a:moveTo>
                    <a:pt x="0" y="0"/>
                  </a:moveTo>
                  <a:lnTo>
                    <a:pt x="5042371" y="0"/>
                  </a:lnTo>
                  <a:lnTo>
                    <a:pt x="5042371" y="2903502"/>
                  </a:lnTo>
                  <a:lnTo>
                    <a:pt x="0" y="2903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90550" cap="sq">
              <a:solidFill>
                <a:srgbClr val="005EE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42370" cy="2960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910712"/>
            <a:ext cx="544026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005EE2"/>
                </a:solidFill>
                <a:latin typeface="Poppins Bold"/>
                <a:ea typeface="Poppins Bold"/>
                <a:cs typeface="Poppins Bold"/>
                <a:sym typeface="Poppins Bold"/>
              </a:rPr>
              <a:t>Discussion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66189"/>
            <a:ext cx="8714955" cy="447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PCA+KNN: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Simple and effective but sensitive to noise.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PCA+SVM: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More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balanced and robust than KNN.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FaceNet+KNN: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Excellent performance, embeddings well-separated.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Challenges: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Lighting variation, occlusions, minor pose shifts.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Classical methods are useful for learning, but deep embeddings are best.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8625" y="-368617"/>
            <a:ext cx="19145250" cy="11024235"/>
            <a:chOff x="0" y="0"/>
            <a:chExt cx="5042370" cy="29035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42371" cy="2903502"/>
            </a:xfrm>
            <a:custGeom>
              <a:avLst/>
              <a:gdLst/>
              <a:ahLst/>
              <a:cxnLst/>
              <a:rect r="r" b="b" t="t" l="l"/>
              <a:pathLst>
                <a:path h="2903502" w="5042371">
                  <a:moveTo>
                    <a:pt x="0" y="0"/>
                  </a:moveTo>
                  <a:lnTo>
                    <a:pt x="5042371" y="0"/>
                  </a:lnTo>
                  <a:lnTo>
                    <a:pt x="5042371" y="2903502"/>
                  </a:lnTo>
                  <a:lnTo>
                    <a:pt x="0" y="2903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90550" cap="sq">
              <a:solidFill>
                <a:srgbClr val="005EE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42370" cy="2960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910712"/>
            <a:ext cx="890355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005EE2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&amp; Future 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66189"/>
            <a:ext cx="9383610" cy="373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The system successfully recognized 10 individuals.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Classical ML models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showed feasibility for small-scale tasks.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FaceNet embeddings gave state-of-the-art accuracy.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Work: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Expand dataset, adopt CNN-based models, and deploy in real-time apps.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05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36854" y="4714875"/>
            <a:ext cx="4614291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428625" y="-368617"/>
            <a:ext cx="19145250" cy="11024235"/>
            <a:chOff x="0" y="0"/>
            <a:chExt cx="5042370" cy="29035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42371" cy="2903502"/>
            </a:xfrm>
            <a:custGeom>
              <a:avLst/>
              <a:gdLst/>
              <a:ahLst/>
              <a:cxnLst/>
              <a:rect r="r" b="b" t="t" l="l"/>
              <a:pathLst>
                <a:path h="2903502" w="5042371">
                  <a:moveTo>
                    <a:pt x="0" y="0"/>
                  </a:moveTo>
                  <a:lnTo>
                    <a:pt x="5042371" y="0"/>
                  </a:lnTo>
                  <a:lnTo>
                    <a:pt x="5042371" y="2903502"/>
                  </a:lnTo>
                  <a:lnTo>
                    <a:pt x="0" y="2903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905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042370" cy="2960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DAGwfmZcMGU</dc:identifier>
  <dcterms:modified xsi:type="dcterms:W3CDTF">2011-08-01T06:04:30Z</dcterms:modified>
  <cp:revision>1</cp:revision>
  <dc:title>CSE445 Slides</dc:title>
</cp:coreProperties>
</file>